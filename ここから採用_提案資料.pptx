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タイトルスライド。サービス名「ここから採用」はBtoBマッチングプラットフォームのサービス名。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A7A5A">
              <a:alpha val="12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D1B2A"/>
                </a:solidFill>
              </a:rPr>
              <a:t>BtoB MATCHING PLATFORM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</a:t>
            </a:r>
            <a:pPr indent="0" marL="0">
              <a:buNone/>
            </a:pPr>
            <a:r>
              <a:rPr lang="en-US" sz="5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採用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サービス提案資料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登録するだけで、売上が上がる。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企業と企業をつなぐ、全業種対応BtoBマッチングプラットフォーム。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　作成：島崎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2468880" cy="3200400"/>
          </a:xfrm>
          <a:prstGeom prst="roundRect">
            <a:avLst>
              <a:gd name="adj" fmla="val 4444"/>
            </a:avLst>
          </a:prstGeom>
          <a:solidFill>
            <a:srgbClr val="1B2D4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ここから採用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514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BtoB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</a:rPr>
              <a:t>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527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現状の課題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6733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企業が抱えるビジネス上の問題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2527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ここから採用とは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6733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サービスの概要と仕組み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487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2つの利用シーン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907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発注企業・受注企業それぞれのメリット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237744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487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24688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料金プラン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577840" y="2907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ライト・スタンダード・プレミアム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721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収益モデル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142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掲載料による収益構造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611880"/>
            <a:ext cx="4023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37216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今後の展開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4142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ロードマップと機能拡充計画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現状の課題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「売上を上げたい」企業が抱える3つの壁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651760" cy="292608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37360"/>
            <a:ext cx="265176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新規顧客の開拓が難しい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既存客への依存度が高く、営業活動に時間・コストがかかる。新しい取引先を見つけるチャンネルが限られている。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651760" cy="292608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737360"/>
            <a:ext cx="265176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自社を知ってもらえない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9260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WEBサイトはあるが集客できていない。自社のサービスを必要としている企業にリーチできていない。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651760" cy="2926080"/>
          </a:xfrm>
          <a:prstGeom prst="rect">
            <a:avLst/>
          </a:prstGeom>
          <a:solidFill>
            <a:srgbClr val="1B2D42"/>
          </a:solidFill>
          <a:ln w="12700">
            <a:solidFill>
              <a:srgbClr val="1B2D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737360"/>
            <a:ext cx="265176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737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286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BtoB営業コストが高い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92608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展示会・広告・飛び込み営業など、新規顧客獲得にかかる費用対効果が悪く、費用を掛けられない。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これらの課題を、ここから採用が一気に解決します。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ここから採用とは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登録するだけで、</a:t>
            </a:r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売上が上がる。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ここから採用は、全業種対応のBtoBビジネスマッチングプラットフォームです。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貴社のサービスを必要としている企業と、今すぐつながることができます。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2651760" cy="2148840"/>
          </a:xfrm>
          <a:prstGeom prst="rect">
            <a:avLst/>
          </a:prstGeom>
          <a:solidFill>
            <a:srgbClr val="F7F6F3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852928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52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218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企業情報を登録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749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会社名・業種・サービスを入力するだけ。最短10分で掲載完了。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63240" y="3566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0" y="2743200"/>
            <a:ext cx="2651760" cy="2148840"/>
          </a:xfrm>
          <a:prstGeom prst="rect">
            <a:avLst/>
          </a:prstGeom>
          <a:solidFill>
            <a:srgbClr val="F7F6F3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852928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852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7560" y="3218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発注企業に発見される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749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業種・エリア・キーワードで検索され、必要としている企業に見つけてもらえる。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97880" y="35661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35040" y="2743200"/>
            <a:ext cx="2651760" cy="2148840"/>
          </a:xfrm>
          <a:prstGeom prst="rect">
            <a:avLst/>
          </a:prstGeom>
          <a:solidFill>
            <a:srgbClr val="F7F6F3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2852928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28529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32186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問い合わせ・成約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37490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フォーム・チャット・電話で直接やりとり。スムーズに成約へ。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2つの利用シーン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発注したい企業へ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完全無料で、取引先を探せる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474720" cy="402336"/>
          </a:xfrm>
          <a:prstGeom prst="rect">
            <a:avLst/>
          </a:prstGeom>
          <a:solidFill>
            <a:srgbClr val="142233"/>
          </a:solidFill>
          <a:ln w="12700">
            <a:solidFill>
              <a:srgbClr val="1422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060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業種・エリア・キーワードで絞り込み検索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127248"/>
            <a:ext cx="3474720" cy="402336"/>
          </a:xfrm>
          <a:prstGeom prst="rect">
            <a:avLst/>
          </a:prstGeom>
          <a:solidFill>
            <a:srgbClr val="142233"/>
          </a:solidFill>
          <a:ln w="12700">
            <a:solidFill>
              <a:srgbClr val="1422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1272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企業の実績・サービス詳細を事前確認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648456"/>
            <a:ext cx="3474720" cy="402336"/>
          </a:xfrm>
          <a:prstGeom prst="rect">
            <a:avLst/>
          </a:prstGeom>
          <a:solidFill>
            <a:srgbClr val="142233"/>
          </a:solidFill>
          <a:ln w="12700">
            <a:solidFill>
              <a:srgbClr val="1422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484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フォーム・チャット・電話で直接連絡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3474720" cy="402336"/>
          </a:xfrm>
          <a:prstGeom prst="rect">
            <a:avLst/>
          </a:prstGeom>
          <a:solidFill>
            <a:srgbClr val="142233"/>
          </a:solidFill>
          <a:ln w="12700">
            <a:solidFill>
              <a:srgbClr val="1422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696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完全無料で何社でも問い合わせ可能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4023360" cy="384048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SELLERS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受注したい企業へ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0" y="2084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月額掲載料だけで新規顧客を獲得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606040"/>
            <a:ext cx="3474720" cy="402336"/>
          </a:xfrm>
          <a:prstGeom prst="rect">
            <a:avLst/>
          </a:prstGeom>
          <a:solidFill>
            <a:srgbClr val="155A42"/>
          </a:solidFill>
          <a:ln w="12700">
            <a:solidFill>
              <a:srgbClr val="155A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6060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最短10分で掲載スタート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0" y="3127248"/>
            <a:ext cx="3474720" cy="402336"/>
          </a:xfrm>
          <a:prstGeom prst="rect">
            <a:avLst/>
          </a:prstGeom>
          <a:solidFill>
            <a:srgbClr val="155A42"/>
          </a:solidFill>
          <a:ln w="12700">
            <a:solidFill>
              <a:srgbClr val="155A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1272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月額5,000円から始められる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0" y="3648456"/>
            <a:ext cx="3474720" cy="402336"/>
          </a:xfrm>
          <a:prstGeom prst="rect">
            <a:avLst/>
          </a:prstGeom>
          <a:solidFill>
            <a:srgbClr val="155A42"/>
          </a:solidFill>
          <a:ln w="12700">
            <a:solidFill>
              <a:srgbClr val="155A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6484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全国の発注企業に見つけてもらえる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0" y="4169664"/>
            <a:ext cx="3474720" cy="402336"/>
          </a:xfrm>
          <a:prstGeom prst="rect">
            <a:avLst/>
          </a:prstGeom>
          <a:solidFill>
            <a:srgbClr val="155A42"/>
          </a:solidFill>
          <a:ln w="12700">
            <a:solidFill>
              <a:srgbClr val="155A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41696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E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問い合わせ・チャット・電話で受注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60520" y="2468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4069080" y="3017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マッチング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料金プラン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3794760"/>
          </a:xfrm>
          <a:prstGeom prst="rect">
            <a:avLst/>
          </a:prstGeom>
          <a:solidFill>
            <a:srgbClr val="1B2D42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月（税込 ¥5,500）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2423160" cy="0"/>
          </a:xfrm>
          <a:prstGeom prst="line">
            <a:avLst/>
          </a:prstGeom>
          <a:noFill/>
          <a:ln w="12700">
            <a:solidFill>
              <a:srgbClr val="2A3D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基本情報掲載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278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サービス紹介文（500文字）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写真 3枚まで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8313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問い合わせフォーム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133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電話番号・メール掲載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143000"/>
            <a:ext cx="2697480" cy="3794760"/>
          </a:xfrm>
          <a:prstGeom prst="rect">
            <a:avLst/>
          </a:prstGeom>
          <a:solidFill>
            <a:srgbClr val="162840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960120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960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人気 No.1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37560" y="15361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スタンダード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37560" y="1920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¥12,000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337560" y="2487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月（税込 ¥13,200）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2816352"/>
            <a:ext cx="2423160" cy="0"/>
          </a:xfrm>
          <a:prstGeom prst="line">
            <a:avLst/>
          </a:prstGeom>
          <a:noFill/>
          <a:ln w="12700">
            <a:solidFill>
              <a:srgbClr val="2A3D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ライトの全機能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32278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サービス紹介文（2,000文字）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写真 10枚まで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8313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チャット・DM機能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4133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検索上位表示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実績・事例掲載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1143000"/>
            <a:ext cx="2697480" cy="3794760"/>
          </a:xfrm>
          <a:prstGeom prst="rect">
            <a:avLst/>
          </a:prstGeom>
          <a:solidFill>
            <a:srgbClr val="1B2D42"/>
          </a:solidFill>
          <a:ln w="12700">
            <a:solidFill>
              <a:srgbClr val="2A3D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2618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15361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プレミアム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17920" y="19202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¥30,000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6217920" y="2487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月（税込 ¥33,000）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816352"/>
            <a:ext cx="2423160" cy="0"/>
          </a:xfrm>
          <a:prstGeom prst="line">
            <a:avLst/>
          </a:prstGeom>
          <a:noFill/>
          <a:ln w="12700">
            <a:solidFill>
              <a:srgbClr val="2A3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926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スタンダードの全機能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32278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トップページ特集掲載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検索最上位優先表示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8313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写真・動画 無制限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4133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専任サポート担当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4434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月次レポート提供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いつでもプラン変更・解約可能　／　初期費用・登録料は不要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収益モデル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掲載料ベースのストック型収益モデル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登録企業の掲載料が毎月定額で積み上がる、安定した収益構造です。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2560320"/>
          </a:xfrm>
          <a:prstGeom prst="rect">
            <a:avLst/>
          </a:prstGeom>
          <a:solidFill>
            <a:srgbClr val="F7F6F3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29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収益シミュレーション（例）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450592"/>
            <a:ext cx="2377440" cy="1691640"/>
          </a:xfrm>
          <a:prstGeom prst="rect">
            <a:avLst/>
          </a:prstGeom>
          <a:solidFill>
            <a:srgbClr val="4A6882"/>
          </a:solidFill>
          <a:ln w="12700">
            <a:solidFill>
              <a:srgbClr val="4A68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871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ライト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¥5,000/月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0449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10社 掲載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401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¥50,000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46120" y="2450592"/>
            <a:ext cx="2377440" cy="1691640"/>
          </a:xfrm>
          <a:prstGeom prst="rect">
            <a:avLst/>
          </a:prstGeom>
          <a:solidFill>
            <a:srgbClr val="2A5A82"/>
          </a:solidFill>
          <a:ln w="12700">
            <a:solidFill>
              <a:srgbClr val="2A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4871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スタンダード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¥12,000/月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30449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10社 掲載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3401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¥120,000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897880" y="2450592"/>
            <a:ext cx="237744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48716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プレミアム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¥30,000/月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30449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5社 掲載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3401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¥150,000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526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月額合計（例）：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4526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¥320,000 / 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4526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年間 ¥3,840,000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今後の展開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749808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2697480" cy="1600200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17043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〜6ヶ月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783080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立ち上げ期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481328" y="2724912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1546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サイト公開・長崎エリアで展開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353872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手動運用で掲載企業を獲得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92277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Formspreeでフォーム受付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43068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目標：掲載50社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697480" cy="1600200"/>
          </a:xfrm>
          <a:prstGeom prst="rect">
            <a:avLst/>
          </a:prstGeom>
          <a:solidFill>
            <a:srgbClr val="1A5A7A"/>
          </a:solidFill>
          <a:ln w="12700">
            <a:solidFill>
              <a:srgbClr val="1A5A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55848" y="117043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55848" y="146304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6〜18ヶ月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55848" y="1783080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拡大期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61688" y="2724912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31546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九州全域へエリア拡大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353872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Stripeによる自動決済導入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55848" y="392277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チャット機能追加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43068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目標：掲載200社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097280"/>
            <a:ext cx="2697480" cy="1600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36208" y="117043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36208" y="146304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18ヶ月〜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1783080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全国展開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242048" y="2724912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31546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全国47都道府県対応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3538728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会員システム・マイページ開設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36208" y="3922776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AIマッチングレコメンド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430682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目標：掲載1,000社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1A7A5A">
              <a:alpha val="1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ここから採用で、
</a:t>
            </a:r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ビジネスを次のステージへ。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5943600" cy="384048"/>
          </a:xfrm>
          <a:prstGeom prst="rect">
            <a:avLst/>
          </a:prstGeom>
          <a:solidFill>
            <a:srgbClr val="142233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全業種・全国対応のBtoBマッチングプラットフォーム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5943600" cy="384048"/>
          </a:xfrm>
          <a:prstGeom prst="rect">
            <a:avLst/>
          </a:prstGeom>
          <a:solidFill>
            <a:srgbClr val="142233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815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登録するだけで新規顧客が見つかる仕組み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5943600" cy="384048"/>
          </a:xfrm>
          <a:prstGeom prst="rect">
            <a:avLst/>
          </a:prstGeom>
          <a:solidFill>
            <a:srgbClr val="142233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5701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月額5,000円〜の掲載料でストック型収益を構築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5943600" cy="384048"/>
          </a:xfrm>
          <a:prstGeom prst="rect">
            <a:avLst/>
          </a:prstGeom>
          <a:solidFill>
            <a:srgbClr val="142233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3250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発注企業は完全無料で取引先を探せる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594360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720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まずは掲載のご相談・お問い合わせをお待ちしています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1005840"/>
            <a:ext cx="2011680" cy="4206240"/>
          </a:xfrm>
          <a:prstGeom prst="rect">
            <a:avLst/>
          </a:prstGeom>
          <a:solidFill>
            <a:srgbClr val="0A1520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463040"/>
            <a:ext cx="1737360" cy="0"/>
          </a:xfrm>
          <a:prstGeom prst="line">
            <a:avLst/>
          </a:prstGeom>
          <a:noFill/>
          <a:ln w="12700">
            <a:solidFill>
              <a:srgbClr val="2A3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ここから採用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kokokara-saiyo.com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85800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運営：島崎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ここから採用 サービス提案資料</dc:title>
  <dc:subject>PptxGenJS Presentation</dc:subject>
  <dc:creator>PptxGenJS</dc:creator>
  <cp:lastModifiedBy>PptxGenJS</cp:lastModifiedBy>
  <cp:revision>1</cp:revision>
  <dcterms:created xsi:type="dcterms:W3CDTF">2026-06-29T17:19:24Z</dcterms:created>
  <dcterms:modified xsi:type="dcterms:W3CDTF">2026-06-29T17:19:24Z</dcterms:modified>
</cp:coreProperties>
</file>